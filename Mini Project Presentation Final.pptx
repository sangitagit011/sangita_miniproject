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17"/>
  </p:notesMasterIdLst>
  <p:handoutMasterIdLst>
    <p:handoutMasterId r:id="rId18"/>
  </p:handoutMasterIdLst>
  <p:sldIdLst>
    <p:sldId id="285" r:id="rId2"/>
    <p:sldId id="320" r:id="rId3"/>
    <p:sldId id="322" r:id="rId4"/>
    <p:sldId id="323" r:id="rId5"/>
    <p:sldId id="324" r:id="rId6"/>
    <p:sldId id="325" r:id="rId7"/>
    <p:sldId id="326" r:id="rId8"/>
    <p:sldId id="330" r:id="rId9"/>
    <p:sldId id="329" r:id="rId10"/>
    <p:sldId id="331" r:id="rId11"/>
    <p:sldId id="338" r:id="rId12"/>
    <p:sldId id="340" r:id="rId13"/>
    <p:sldId id="333" r:id="rId14"/>
    <p:sldId id="335" r:id="rId15"/>
    <p:sldId id="33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8969C1-12D7-4AB0-9940-EB7EBD69AB56}">
          <p14:sldIdLst>
            <p14:sldId id="285"/>
            <p14:sldId id="320"/>
            <p14:sldId id="322"/>
            <p14:sldId id="323"/>
            <p14:sldId id="324"/>
            <p14:sldId id="325"/>
            <p14:sldId id="326"/>
            <p14:sldId id="330"/>
            <p14:sldId id="329"/>
            <p14:sldId id="331"/>
            <p14:sldId id="338"/>
            <p14:sldId id="340"/>
            <p14:sldId id="333"/>
            <p14:sldId id="335"/>
            <p14:sldId id="336"/>
          </p14:sldIdLst>
        </p14:section>
        <p14:section name="Untitled Section" id="{F3FEF0FD-57DC-4587-8570-A609F0F46CE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256" autoAdjust="0"/>
  </p:normalViewPr>
  <p:slideViewPr>
    <p:cSldViewPr snapToGrid="0">
      <p:cViewPr varScale="1">
        <p:scale>
          <a:sx n="82" d="100"/>
          <a:sy n="82" d="100"/>
        </p:scale>
        <p:origin x="1987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30/8/2019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B7ED3-1D48-4FDE-AD67-DBFD27F00B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19539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12:57:25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12:57:26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12:57:31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24575,'0'-5'0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12:57:42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24575,'5'0'0,"5"0"0,1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12:57:33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30/8/2019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5F033-B048-4B18-86AB-3A20A7891B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44772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30/8/2019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B5F033-B048-4B18-86AB-3A20A7891B0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73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817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8/14/2020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817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48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buFont typeface="Wingdings" panose="05000000000000000000" pitchFamily="2" charset="2"/>
              <a:buChar char="v"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buFont typeface="Wingdings" panose="05000000000000000000" pitchFamily="2" charset="2"/>
              <a:buChar char="v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>
              <a:defRPr sz="4000" b="1" cap="none" spc="0">
                <a:ln/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8/14/2020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3817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FF0000"/>
                </a:solidFill>
              </a:defRPr>
            </a:lvl1pPr>
          </a:lstStyle>
          <a:p>
            <a:fld id="{0A3747BB-4598-4E25-9E38-971C52AEC8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123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8/14/2020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81751"/>
            <a:ext cx="2057400" cy="365125"/>
          </a:xfrm>
          <a:prstGeom prst="rect">
            <a:avLst/>
          </a:prstGeom>
        </p:spPr>
        <p:txBody>
          <a:bodyPr/>
          <a:lstStyle/>
          <a:p>
            <a:fld id="{0A3747BB-4598-4E25-9E38-971C52AEC8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888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8/14/2020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381751"/>
            <a:ext cx="2057400" cy="365125"/>
          </a:xfrm>
          <a:prstGeom prst="rect">
            <a:avLst/>
          </a:prstGeom>
        </p:spPr>
        <p:txBody>
          <a:bodyPr/>
          <a:lstStyle/>
          <a:p>
            <a:fld id="{0A3747BB-4598-4E25-9E38-971C52AEC8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257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8/14/2020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457950" y="6381751"/>
            <a:ext cx="2057400" cy="365125"/>
          </a:xfrm>
          <a:prstGeom prst="rect">
            <a:avLst/>
          </a:prstGeom>
        </p:spPr>
        <p:txBody>
          <a:bodyPr/>
          <a:lstStyle/>
          <a:p>
            <a:fld id="{0A3747BB-4598-4E25-9E38-971C52AEC8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54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8/14/2020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457950" y="6381751"/>
            <a:ext cx="2057400" cy="365125"/>
          </a:xfrm>
          <a:prstGeom prst="rect">
            <a:avLst/>
          </a:prstGeom>
        </p:spPr>
        <p:txBody>
          <a:bodyPr/>
          <a:lstStyle/>
          <a:p>
            <a:fld id="{0A3747BB-4598-4E25-9E38-971C52AEC8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33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702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8/14/2020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381751"/>
            <a:ext cx="2057400" cy="365125"/>
          </a:xfrm>
          <a:prstGeom prst="rect">
            <a:avLst/>
          </a:prstGeom>
        </p:spPr>
        <p:txBody>
          <a:bodyPr/>
          <a:lstStyle/>
          <a:p>
            <a:fld id="{0A3747BB-4598-4E25-9E38-971C52AEC8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7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8/14/2020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381751"/>
            <a:ext cx="2057400" cy="365125"/>
          </a:xfrm>
          <a:prstGeom prst="rect">
            <a:avLst/>
          </a:prstGeom>
        </p:spPr>
        <p:txBody>
          <a:bodyPr/>
          <a:lstStyle/>
          <a:p>
            <a:fld id="{0A3747BB-4598-4E25-9E38-971C52AEC8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8/14/2020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81751"/>
            <a:ext cx="2057400" cy="365125"/>
          </a:xfrm>
          <a:prstGeom prst="rect">
            <a:avLst/>
          </a:prstGeom>
        </p:spPr>
        <p:txBody>
          <a:bodyPr/>
          <a:lstStyle/>
          <a:p>
            <a:fld id="{0A3747BB-4598-4E25-9E38-971C52AEC8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29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8/14/2020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81751"/>
            <a:ext cx="2057400" cy="365125"/>
          </a:xfrm>
          <a:prstGeom prst="rect">
            <a:avLst/>
          </a:prstGeom>
        </p:spPr>
        <p:txBody>
          <a:bodyPr/>
          <a:lstStyle/>
          <a:p>
            <a:fld id="{0A3747BB-4598-4E25-9E38-971C52AEC8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783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8/14/2020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457950" y="6381751"/>
            <a:ext cx="2057400" cy="365125"/>
          </a:xfrm>
          <a:prstGeom prst="rect">
            <a:avLst/>
          </a:prstGeom>
        </p:spPr>
        <p:txBody>
          <a:bodyPr/>
          <a:lstStyle/>
          <a:p>
            <a:fld id="{C9D37D9F-E113-4776-BD04-3FC33465CB7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74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Academic Year 2020-21 , Semester-2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95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48194" y="156754"/>
            <a:ext cx="8490857" cy="10972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5670"/>
            <a:ext cx="9210905" cy="1299447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GUJARAT TECHNOLOGICAL UNIVERSITY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     SCHOOL OF ENGINEERING AND TECHNOLOGY 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4176" y="1355117"/>
            <a:ext cx="698255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Graduate Diploma  </a:t>
            </a:r>
          </a:p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</a:p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(Institute Code: 137) </a:t>
            </a:r>
          </a:p>
          <a:p>
            <a:pPr algn="ctr"/>
            <a:r>
              <a: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</a:t>
            </a:r>
          </a:p>
          <a:p>
            <a:pPr algn="ctr"/>
            <a:r>
              <a: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DS02080041</a:t>
            </a:r>
            <a:r>
              <a: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Gold Price Prediction Analysis</a:t>
            </a:r>
          </a:p>
          <a:p>
            <a:pPr algn="ctr"/>
            <a:r>
              <a:rPr lang="en-IN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 algn="ctr"/>
            <a:endParaRPr lang="en-US" sz="2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b="1" i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44793" y="4555993"/>
            <a:ext cx="54544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Sangita Shivprakash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Gurudatta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251370680003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194" y="5746627"/>
            <a:ext cx="3799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Guide: </a:t>
            </a:r>
            <a:r>
              <a:rPr lang="en-US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Prof.Mahesh</a:t>
            </a: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Panchal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Academic Year 2025-26 , Semester-2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10" name="Picture 9" descr="LogoTran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61365"/>
            <a:ext cx="986118" cy="102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80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854765"/>
              </p:ext>
            </p:extLst>
          </p:nvPr>
        </p:nvGraphicFramePr>
        <p:xfrm>
          <a:off x="505096" y="485534"/>
          <a:ext cx="8345300" cy="5581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9159"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>
                          <a:ln/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Outline</a:t>
                      </a:r>
                      <a:endParaRPr lang="en-US" sz="26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837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Area of Problem</a:t>
                      </a:r>
                      <a:endParaRPr lang="en-IN" sz="2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837">
                <a:tc>
                  <a:txBody>
                    <a:bodyPr/>
                    <a:lstStyle/>
                    <a:p>
                      <a:r>
                        <a:rPr lang="en-IN" sz="2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Useful </a:t>
                      </a:r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Society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837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Fulfilment of Review-1 And Review -2 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9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9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Tuning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869713"/>
                  </a:ext>
                </a:extLst>
              </a:tr>
              <a:tr h="439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&amp; Evaluation Metrics</a:t>
                      </a:r>
                      <a:endParaRPr lang="en-IN" sz="2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182191"/>
                  </a:ext>
                </a:extLst>
              </a:tr>
              <a:tr h="4910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 &amp; 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470902"/>
                  </a:ext>
                </a:extLst>
              </a:tr>
              <a:tr h="396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402379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Academic Year 2025-26 , Semester-2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397EB4-09D9-6BC5-C99E-5B1246AF2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233715"/>
            <a:ext cx="7886700" cy="389522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n-IN" sz="2000" b="1" dirty="0"/>
              <a:t>Market Volatility</a:t>
            </a:r>
            <a:r>
              <a:rPr lang="en-IN" sz="2000" dirty="0"/>
              <a:t> Gold prices are highly sensitive to global economic shifts, geopolitical tensions, and sudden market shocks, making prediction complex.</a:t>
            </a:r>
          </a:p>
          <a:p>
            <a:pPr algn="just"/>
            <a:r>
              <a:rPr lang="en-IN" sz="2000" b="1" dirty="0"/>
              <a:t>Macroeconomic Factors</a:t>
            </a:r>
            <a:r>
              <a:rPr lang="en-IN" sz="2000" dirty="0"/>
              <a:t> Inflation rates, interest rates, and currency fluctuations directly influence gold demand and pricing.</a:t>
            </a:r>
          </a:p>
          <a:p>
            <a:pPr algn="just"/>
            <a:r>
              <a:rPr lang="en-IN" sz="2000" b="1" dirty="0"/>
              <a:t>Data Complexity</a:t>
            </a:r>
            <a:r>
              <a:rPr lang="en-IN" sz="2000" dirty="0"/>
              <a:t> Gold price forecasting requires integrating diverse datasets — historical trends, commodity indices, and global trade flows — which can be inconsistent or incomplete.</a:t>
            </a:r>
          </a:p>
          <a:p>
            <a:pPr algn="just"/>
            <a:r>
              <a:rPr lang="en-IN" sz="2000" b="1" dirty="0"/>
              <a:t>Analytical Uncertainty</a:t>
            </a:r>
            <a:r>
              <a:rPr lang="en-IN" sz="2000" dirty="0"/>
              <a:t> Different forecasting models (technical analysis, econometrics, machine learning) often produce varying results, creating uncertainty in decision-making.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30B2FD-DAD5-0293-707D-6E5C1356A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39972"/>
            <a:ext cx="7886700" cy="577065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numCol="1">
            <a:normAutofit/>
          </a:bodyPr>
          <a:lstStyle/>
          <a:p>
            <a:r>
              <a:rPr lang="en-IN" sz="2800" dirty="0">
                <a:ea typeface="SimSun" panose="02010600030101010101" pitchFamily="2" charset="-122"/>
              </a:rPr>
              <a:t>Broad Area of Problem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CFE695-0733-264F-4611-507BA7831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Academic Year 2025-26 , Semester-2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C9A26F-E3B4-0E45-0E7A-D3009DBA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312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941ADE-5525-1C4B-D7B4-A2A62E098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590" y="1383749"/>
            <a:ext cx="8048820" cy="447403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IN" sz="2600" b="1" dirty="0"/>
              <a:t>Economic Stability</a:t>
            </a:r>
            <a:r>
              <a:rPr lang="en-IN" sz="2600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600" dirty="0"/>
              <a:t>Reliable forecasts help governments and central banks manage reserves and monetary policy more effectively.</a:t>
            </a:r>
          </a:p>
          <a:p>
            <a:r>
              <a:rPr lang="en-IN" sz="2600" b="1" dirty="0"/>
              <a:t>Investor Confidence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600" dirty="0"/>
              <a:t> Accurate predictions reduce uncertainty, guiding investors toward safer and more profitable decisions.</a:t>
            </a:r>
          </a:p>
          <a:p>
            <a:r>
              <a:rPr lang="en-IN" sz="2600" b="1" dirty="0"/>
              <a:t>Risk Management</a:t>
            </a:r>
            <a:r>
              <a:rPr lang="en-IN" sz="2600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600" dirty="0"/>
              <a:t>Businesses and individuals can hedge against inflation and currency fluctuations using gold as a protective asset.</a:t>
            </a:r>
          </a:p>
          <a:p>
            <a:r>
              <a:rPr lang="en-IN" sz="2600" b="1" dirty="0"/>
              <a:t>Global Trade Impact</a:t>
            </a:r>
            <a:r>
              <a:rPr lang="en-IN" sz="2600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600" dirty="0"/>
              <a:t>Forecasting gold prices supports international trade negotiations and commodity market stability.</a:t>
            </a:r>
          </a:p>
          <a:p>
            <a:pPr marL="0" indent="0">
              <a:buNone/>
            </a:pPr>
            <a:r>
              <a:rPr lang="en-IN" sz="2600" b="1" dirty="0"/>
              <a:t>Societal Security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600" dirty="0"/>
              <a:t>By reducing financial shocks, accurate predictions contribute to overall social and economic well-being.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824777-082A-7563-52A3-55CCFCBB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90" y="493455"/>
            <a:ext cx="8048820" cy="50676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numCol="1">
            <a:normAutofit/>
          </a:bodyPr>
          <a:lstStyle/>
          <a:p>
            <a:r>
              <a:rPr lang="en-US" sz="2400" dirty="0"/>
              <a:t>USEFULNESS FOR SOCIETY</a:t>
            </a: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9F038-5E69-0AEE-E3CD-3D7554C3E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3636" y="6545877"/>
            <a:ext cx="3086100" cy="249722"/>
          </a:xfrm>
        </p:spPr>
        <p:txBody>
          <a:bodyPr/>
          <a:lstStyle/>
          <a:p>
            <a:r>
              <a:rPr lang="en-US" dirty="0"/>
              <a:t>Academic Year 2025-26 , Semester-2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9E4D5-0A2D-470E-43D8-7EAF72EF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5313" y="6545877"/>
            <a:ext cx="344066" cy="249722"/>
          </a:xfrm>
        </p:spPr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08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5B7853-AE87-16B8-88C3-5A4429047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46" y="1309437"/>
            <a:ext cx="7817303" cy="400561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r>
              <a:rPr lang="en-IN" sz="2900" b="1" dirty="0">
                <a:solidFill>
                  <a:schemeClr val="tx2">
                    <a:lumMod val="50000"/>
                  </a:schemeClr>
                </a:solidFill>
              </a:rPr>
              <a:t>Review-1 Issues:</a:t>
            </a:r>
          </a:p>
          <a:p>
            <a:pPr marL="0" indent="0">
              <a:buNone/>
            </a:pPr>
            <a:r>
              <a:rPr lang="en-IN" sz="2900" b="1" dirty="0">
                <a:solidFill>
                  <a:schemeClr val="tx2">
                    <a:lumMod val="50000"/>
                  </a:schemeClr>
                </a:solidFill>
              </a:rPr>
              <a:t>Nothing</a:t>
            </a:r>
          </a:p>
          <a:p>
            <a:r>
              <a:rPr lang="en-IN" sz="2900" b="1" dirty="0">
                <a:solidFill>
                  <a:schemeClr val="tx2">
                    <a:lumMod val="50000"/>
                  </a:schemeClr>
                </a:solidFill>
              </a:rPr>
              <a:t>Review-2 Improvements: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600" b="1" dirty="0"/>
              <a:t>Full Model Implementation</a:t>
            </a:r>
            <a:r>
              <a:rPr lang="en-IN" sz="2600" dirty="0"/>
              <a:t> The machine learning pipeline has been completed using the dataset, with training and testing phases fully executed.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600" b="1" dirty="0"/>
              <a:t>Performance Evaluation </a:t>
            </a:r>
            <a:r>
              <a:rPr lang="en-IN" sz="2800" dirty="0"/>
              <a:t>By combining R² Score (variance explained) and MSE (error magnitude), demonstrate that Random Forest is the optimal model for gold price prediction and accuracy</a:t>
            </a:r>
            <a:r>
              <a:rPr lang="en-IN" sz="2600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600" b="1" dirty="0"/>
              <a:t>Feature Importance Analysis Key parameters </a:t>
            </a:r>
            <a:r>
              <a:rPr lang="en-IN" sz="2600" dirty="0"/>
              <a:t>— Open, High, Low, Close, and Volume — identified as most influential in predicting gold prices.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600" b="1" dirty="0"/>
              <a:t>Enhanced Visualizations </a:t>
            </a:r>
            <a:r>
              <a:rPr lang="en-IN" sz="2600" dirty="0"/>
              <a:t>Added correlation heatmap, scatter plots, and distribution graphs to better understand variable relationship.</a:t>
            </a:r>
          </a:p>
          <a:p>
            <a:pPr marL="0" indent="0" algn="just">
              <a:buNone/>
            </a:pPr>
            <a:r>
              <a:rPr lang="en-US" sz="2600" dirty="0"/>
              <a:t>These improvements ensure that the project is more accurate, complete, and aligned with real-world machine learning practices.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73C47-775C-6CB5-CDB0-756BF7D78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Academic Year 2025-26 , Semester-2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B2544-8C8B-69C4-B52E-8D8FD5E6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2AD5003-4346-903C-EBAE-07AE8241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47" y="635793"/>
            <a:ext cx="7817303" cy="37205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2000" dirty="0">
                <a:solidFill>
                  <a:schemeClr val="tx2">
                    <a:lumMod val="75000"/>
                  </a:schemeClr>
                </a:solidFill>
              </a:rPr>
              <a:t>FULFILMENT OF REVIEW-1 AND 2 COMMENTS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03883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5555DB-FD4C-1F47-C802-8BE94A8DB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674" y="653143"/>
            <a:ext cx="7886700" cy="57781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Source: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The dataset is a publicly available CSV file containing </a:t>
            </a:r>
            <a:r>
              <a:rPr lang="en-IN" sz="1600" b="1" dirty="0"/>
              <a:t>Gold_Price_2016to2026.csv</a:t>
            </a:r>
            <a:r>
              <a:rPr lang="en-IN" sz="1600" dirty="0"/>
              <a:t>, sourced from GitHub and imported into Google Colab using pandas.read_csv(). Each row represents one trading day, recorded in the (Open, High, Low, Close, Volume), widely used in financial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It includes the following features: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8BFDD4-6941-4C3E-32A3-F0194B789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74" y="200825"/>
            <a:ext cx="7886700" cy="41103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numCol="2">
            <a:normAutofit fontScale="90000"/>
          </a:bodyPr>
          <a:lstStyle/>
          <a:p>
            <a:r>
              <a:rPr lang="en-IN" sz="2400" dirty="0"/>
              <a:t>DATASET DESCRIPTION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E93C3-B1E8-B58A-A0EC-6CD9246F7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54755"/>
            <a:ext cx="3086100" cy="166721"/>
          </a:xfrm>
        </p:spPr>
        <p:txBody>
          <a:bodyPr/>
          <a:lstStyle/>
          <a:p>
            <a:r>
              <a:rPr lang="en-US" dirty="0"/>
              <a:t>Academic Year 2025-26 , Semester-2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E9E47-3D87-EB8D-89EE-18661E2B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11621" y="6513853"/>
            <a:ext cx="306744" cy="339725"/>
          </a:xfrm>
        </p:spPr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A269A5-65B2-AE9E-9ADA-B0AF9F754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871146"/>
              </p:ext>
            </p:extLst>
          </p:nvPr>
        </p:nvGraphicFramePr>
        <p:xfrm>
          <a:off x="933062" y="2493917"/>
          <a:ext cx="4730620" cy="3710940"/>
        </p:xfrm>
        <a:graphic>
          <a:graphicData uri="http://schemas.openxmlformats.org/drawingml/2006/table">
            <a:tbl>
              <a:tblPr/>
              <a:tblGrid>
                <a:gridCol w="1198225">
                  <a:extLst>
                    <a:ext uri="{9D8B030D-6E8A-4147-A177-3AD203B41FA5}">
                      <a16:colId xmlns:a16="http://schemas.microsoft.com/office/drawing/2014/main" val="228420568"/>
                    </a:ext>
                  </a:extLst>
                </a:gridCol>
                <a:gridCol w="1140308">
                  <a:extLst>
                    <a:ext uri="{9D8B030D-6E8A-4147-A177-3AD203B41FA5}">
                      <a16:colId xmlns:a16="http://schemas.microsoft.com/office/drawing/2014/main" val="1513747684"/>
                    </a:ext>
                  </a:extLst>
                </a:gridCol>
                <a:gridCol w="2392087">
                  <a:extLst>
                    <a:ext uri="{9D8B030D-6E8A-4147-A177-3AD203B41FA5}">
                      <a16:colId xmlns:a16="http://schemas.microsoft.com/office/drawing/2014/main" val="1288166754"/>
                    </a:ext>
                  </a:extLst>
                </a:gridCol>
              </a:tblGrid>
              <a:tr h="4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Name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373886"/>
                  </a:ext>
                </a:extLst>
              </a:tr>
              <a:tr h="1943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datetime64[ns]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Trading day timestamp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884075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Closing price of gold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790086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Highest price of the day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433455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Lowest price of the day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343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Opening price of the day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345591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Trading volume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275190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Close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Adjusted closing price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349610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Daily Return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change in price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093123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MA_20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20‑day moving average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882657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MA_50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50‑day moving average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304681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MA_200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200‑day moving average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373469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Volatility_20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20‑day rolling volatility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214230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Extracted year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075160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Extracted month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139265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Day_of_Week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of the week (numeric)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380985"/>
                  </a:ext>
                </a:extLst>
              </a:tr>
              <a:tr h="1916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Quarter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quarter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519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6793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6765AB-433D-D02F-3712-5FBCC576C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344" y="671803"/>
            <a:ext cx="7886700" cy="53124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spcBef>
                <a:spcPts val="60"/>
              </a:spcBef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Raw Dataset (Load Data from </a:t>
            </a:r>
            <a:r>
              <a:rPr lang="en-IN" sz="1400" b="1" dirty="0" err="1">
                <a:solidFill>
                  <a:schemeClr val="tx2">
                    <a:lumMod val="75000"/>
                  </a:schemeClr>
                </a:solidFill>
              </a:rPr>
              <a:t>Github</a:t>
            </a: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60"/>
              </a:spcBef>
              <a:buNone/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                                  ↓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Display Sample Records (using </a:t>
            </a:r>
            <a:r>
              <a:rPr lang="en-IN" sz="1400" b="1" dirty="0" err="1">
                <a:solidFill>
                  <a:schemeClr val="tx2">
                    <a:lumMod val="75000"/>
                  </a:schemeClr>
                </a:solidFill>
              </a:rPr>
              <a:t>df.head</a:t>
            </a: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())</a:t>
            </a:r>
          </a:p>
          <a:p>
            <a:pPr marL="0" indent="0">
              <a:spcBef>
                <a:spcPts val="60"/>
              </a:spcBef>
              <a:buNone/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      	         ↓</a:t>
            </a:r>
          </a:p>
          <a:p>
            <a:pPr>
              <a:spcBef>
                <a:spcPts val="60"/>
              </a:spcBef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Convert Date Format (using pd.</a:t>
            </a:r>
            <a:r>
              <a:rPr lang="en-US" sz="1400" b="1" dirty="0" err="1">
                <a:solidFill>
                  <a:schemeClr val="tx2">
                    <a:lumMod val="75000"/>
                  </a:schemeClr>
                </a:solidFill>
              </a:rPr>
              <a:t>to_datetime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())</a:t>
            </a:r>
            <a:endParaRPr lang="en-IN" sz="1400" b="1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60"/>
              </a:spcBef>
              <a:buNone/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    	         ↓</a:t>
            </a:r>
          </a:p>
          <a:p>
            <a:pPr>
              <a:spcBef>
                <a:spcPts val="60"/>
              </a:spcBef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Remove Missing Values (using </a:t>
            </a:r>
            <a:r>
              <a:rPr lang="en-IN" sz="1400" b="1" dirty="0" err="1">
                <a:solidFill>
                  <a:schemeClr val="tx2">
                    <a:lumMod val="75000"/>
                  </a:schemeClr>
                </a:solidFill>
              </a:rPr>
              <a:t>df.drona</a:t>
            </a: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())</a:t>
            </a:r>
          </a:p>
          <a:p>
            <a:pPr marL="0" indent="0">
              <a:spcBef>
                <a:spcPts val="60"/>
              </a:spcBef>
              <a:buNone/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    	         ↓</a:t>
            </a:r>
          </a:p>
          <a:p>
            <a:pPr>
              <a:spcBef>
                <a:spcPts val="60"/>
              </a:spcBef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Validate Dataset Structure ((using df.info())</a:t>
            </a:r>
          </a:p>
          <a:p>
            <a:pPr marL="0" indent="0">
              <a:spcBef>
                <a:spcPts val="60"/>
              </a:spcBef>
              <a:buNone/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    	         ↓</a:t>
            </a:r>
          </a:p>
          <a:p>
            <a:pPr>
              <a:spcBef>
                <a:spcPts val="60"/>
              </a:spcBef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</a:rPr>
              <a:t>Clean Dataset Ready for Analysis</a:t>
            </a:r>
          </a:p>
          <a:p>
            <a:endParaRPr lang="en-IN" sz="7200" dirty="0">
              <a:solidFill>
                <a:srgbClr val="00206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B09E1D-CFA5-5951-92D2-FEA7265CC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44" y="211787"/>
            <a:ext cx="7886700" cy="30667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numCol="2">
            <a:noAutofit/>
          </a:bodyPr>
          <a:lstStyle/>
          <a:p>
            <a:r>
              <a:rPr lang="en-IN" sz="2000" dirty="0"/>
              <a:t>DATA PREPROCESSING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AD06F-774D-29B2-A504-4CC414B6D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Academic Year 2025-26 , Semester-2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21A1D-B6E9-C221-D97C-66F285B5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A0BE41-CFC4-BBF8-4DB6-81AC15D98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56" y="3240945"/>
            <a:ext cx="6667890" cy="253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0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1FE3F4-6339-D351-BE80-D50620B9F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8" y="719099"/>
            <a:ext cx="7955513" cy="579651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1. Line Chart: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tx2">
                    <a:lumMod val="50000"/>
                  </a:schemeClr>
                </a:solidFill>
              </a:rPr>
              <a:t>Daily closing gold price from January 2016 to early 2026. The chart shows a clear long-term upward trend with significant acceleration from 2024 onwards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.</a:t>
            </a:r>
            <a:endParaRPr lang="en-IN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2. Correlation Heatmap: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tx2">
                    <a:lumMod val="50000"/>
                  </a:schemeClr>
                </a:solidFill>
              </a:rPr>
              <a:t>Correlation analysis is the statistical component of the study. It measures relationships among variables and helps identify important predictors for gold price forecasting.</a:t>
            </a:r>
            <a:endParaRPr lang="en-IN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DE194-8712-D2BB-BB6E-58522880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83551" y="6456188"/>
            <a:ext cx="3086100" cy="365125"/>
          </a:xfrm>
        </p:spPr>
        <p:txBody>
          <a:bodyPr/>
          <a:lstStyle/>
          <a:p>
            <a:r>
              <a:rPr lang="en-US" dirty="0"/>
              <a:t>Academic Year 2025-26, Semester-2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C1C4D-EB4A-3384-C52E-881E6ECB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19447" y="6563513"/>
            <a:ext cx="2095903" cy="257800"/>
          </a:xfrm>
        </p:spPr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93068B-9929-A231-FE11-D78257E87E51}"/>
              </a:ext>
            </a:extLst>
          </p:cNvPr>
          <p:cNvSpPr txBox="1"/>
          <p:nvPr/>
        </p:nvSpPr>
        <p:spPr>
          <a:xfrm>
            <a:off x="628648" y="135494"/>
            <a:ext cx="7955513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61E9EA-A13E-E04E-3C07-D4C258DE4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44" y="4329937"/>
            <a:ext cx="3476153" cy="2115356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9ABBC8B-BA5B-FDD9-60AC-D8F92B5BE2CC}"/>
              </a:ext>
            </a:extLst>
          </p:cNvPr>
          <p:cNvCxnSpPr>
            <a:cxnSpLocks/>
          </p:cNvCxnSpPr>
          <p:nvPr/>
        </p:nvCxnSpPr>
        <p:spPr>
          <a:xfrm>
            <a:off x="4474884" y="4942320"/>
            <a:ext cx="958238" cy="27632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1FE79E7-BE85-956C-CE96-77A3E6991577}"/>
              </a:ext>
            </a:extLst>
          </p:cNvPr>
          <p:cNvSpPr/>
          <p:nvPr/>
        </p:nvSpPr>
        <p:spPr>
          <a:xfrm>
            <a:off x="5433122" y="4942320"/>
            <a:ext cx="1418253" cy="4991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>
                <a:solidFill>
                  <a:schemeClr val="tx1"/>
                </a:solidFill>
              </a:rPr>
              <a:t>statistical </a:t>
            </a:r>
            <a:r>
              <a:rPr lang="en-US" sz="1100" dirty="0"/>
              <a:t>correlation between Open, High, Low, and Close prices</a:t>
            </a:r>
            <a:endParaRPr lang="en-IN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C5D68A0-EF76-EED0-EE2E-D0702FD88A0D}"/>
                  </a:ext>
                </a:extLst>
              </p14:cNvPr>
              <p14:cNvContentPartPr/>
              <p14:nvPr/>
            </p14:nvContentPartPr>
            <p14:xfrm>
              <a:off x="6419447" y="5747510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C5D68A0-EF76-EED0-EE2E-D0702FD88A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3327" y="574139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1EA771E-5BF9-D819-5B54-026D505E6E38}"/>
                  </a:ext>
                </a:extLst>
              </p14:cNvPr>
              <p14:cNvContentPartPr/>
              <p14:nvPr/>
            </p14:nvContentPartPr>
            <p14:xfrm>
              <a:off x="6531407" y="4879910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1EA771E-5BF9-D819-5B54-026D505E6E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25287" y="487379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C472ED2-5375-465B-1941-EF0325CE944F}"/>
                  </a:ext>
                </a:extLst>
              </p14:cNvPr>
              <p14:cNvContentPartPr/>
              <p14:nvPr/>
            </p14:nvContentPartPr>
            <p14:xfrm>
              <a:off x="8723807" y="950150"/>
              <a:ext cx="360" cy="21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C472ED2-5375-465B-1941-EF0325CE94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17687" y="944030"/>
                <a:ext cx="126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127573B-936F-1FCE-0E6F-7D95D2004517}"/>
                  </a:ext>
                </a:extLst>
              </p14:cNvPr>
              <p14:cNvContentPartPr/>
              <p14:nvPr/>
            </p14:nvContentPartPr>
            <p14:xfrm>
              <a:off x="4562567" y="1296830"/>
              <a:ext cx="972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127573B-936F-1FCE-0E6F-7D95D200451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56447" y="1290710"/>
                <a:ext cx="2196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AD72C708-A24A-7AED-900B-1A6B6DDFF32F}"/>
              </a:ext>
            </a:extLst>
          </p:cNvPr>
          <p:cNvCxnSpPr>
            <a:cxnSpLocks/>
          </p:cNvCxnSpPr>
          <p:nvPr/>
        </p:nvCxnSpPr>
        <p:spPr>
          <a:xfrm>
            <a:off x="5340917" y="2057879"/>
            <a:ext cx="559851" cy="14644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157E8FE-2546-BFB5-1372-CD98AB9B8F18}"/>
              </a:ext>
            </a:extLst>
          </p:cNvPr>
          <p:cNvSpPr/>
          <p:nvPr/>
        </p:nvSpPr>
        <p:spPr>
          <a:xfrm>
            <a:off x="5898673" y="2063335"/>
            <a:ext cx="1265468" cy="3499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Line Chart for Gold Price Trend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6EF7EF3-A97D-12D7-385B-F0ED0A0121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55" y="1581542"/>
            <a:ext cx="4278862" cy="19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73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6CBA7A-59BD-0708-6FD5-58E21C78F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920" y="837882"/>
            <a:ext cx="8344756" cy="570103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1600" dirty="0"/>
              <a:t>The </a:t>
            </a:r>
            <a:r>
              <a:rPr lang="en-IN" sz="1600" b="1" dirty="0"/>
              <a:t>statistical model </a:t>
            </a:r>
            <a:r>
              <a:rPr lang="en-IN" sz="1600" dirty="0"/>
              <a:t>(correlation analysis) was used to examine relationships among gold market variables and identify significant predictors. Based on this analysis, Open, High, Low, and Volume were selected as input features . </a:t>
            </a:r>
          </a:p>
          <a:p>
            <a:endParaRPr lang="en-IN" dirty="0"/>
          </a:p>
          <a:p>
            <a:r>
              <a:rPr lang="en-IN" sz="1600" dirty="0"/>
              <a:t>The </a:t>
            </a:r>
            <a:r>
              <a:rPr lang="en-IN" sz="1600" b="1" dirty="0"/>
              <a:t>Random Forest Regression </a:t>
            </a:r>
            <a:r>
              <a:rPr lang="en-IN" sz="1600" dirty="0"/>
              <a:t>machine learning algorithm was then trained on historical data to predict future gold prices. </a:t>
            </a:r>
          </a:p>
          <a:p>
            <a:pPr marL="0" indent="0">
              <a:lnSpc>
                <a:spcPct val="100000"/>
              </a:lnSpc>
              <a:buNone/>
            </a:pPr>
            <a:endParaRPr lang="en-IN" sz="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N" sz="1600" dirty="0"/>
              <a:t>Together, statistical analysis and machine learning provided both data understanding and accurate forecasting capability.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43C1CF-1C87-375E-3112-A205E9F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920" y="136524"/>
            <a:ext cx="8344756" cy="54419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numCol="1">
            <a:noAutofit/>
          </a:bodyPr>
          <a:lstStyle/>
          <a:p>
            <a:r>
              <a:rPr lang="en-IN" sz="2400" dirty="0"/>
              <a:t>MACHINE LEARNING ALGORITHMS USED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86CB7-0D83-529A-9CB0-F92CBB6FE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8248" y="6485441"/>
            <a:ext cx="3086100" cy="365125"/>
          </a:xfrm>
        </p:spPr>
        <p:txBody>
          <a:bodyPr/>
          <a:lstStyle/>
          <a:p>
            <a:r>
              <a:rPr lang="en-US" dirty="0"/>
              <a:t>Academic Year 2025-26 , Semester-2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CB643-FB25-7C85-B9AE-98D7640E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39289" y="6536242"/>
            <a:ext cx="353397" cy="314324"/>
          </a:xfrm>
        </p:spPr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6563C5-85C4-CA1A-932A-35425C1FE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2" y="1576022"/>
            <a:ext cx="3759786" cy="3680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AE1274E-AC9C-18AD-BFFA-F862C95CB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24" y="5027808"/>
            <a:ext cx="3096372" cy="12894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13E3B4E-9C34-854E-04AB-C855FB1FE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494" y="5238432"/>
            <a:ext cx="2872989" cy="823031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DE2AD3A0-4FF9-EB8C-C54C-9D717A888360}"/>
              </a:ext>
            </a:extLst>
          </p:cNvPr>
          <p:cNvSpPr/>
          <p:nvPr/>
        </p:nvSpPr>
        <p:spPr>
          <a:xfrm>
            <a:off x="3586696" y="5639125"/>
            <a:ext cx="1059640" cy="233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7A0B2F-D61D-A386-B7F0-073DAC9CD1AC}"/>
              </a:ext>
            </a:extLst>
          </p:cNvPr>
          <p:cNvSpPr/>
          <p:nvPr/>
        </p:nvSpPr>
        <p:spPr>
          <a:xfrm>
            <a:off x="3631539" y="5443571"/>
            <a:ext cx="898212" cy="1828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Result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8CCB29A-910A-6553-6D5D-DCD3380D62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62" y="2458074"/>
            <a:ext cx="2949013" cy="17545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215F3CD-01D1-F742-4D7A-ED5657C9EE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3611" y="2623614"/>
            <a:ext cx="2263336" cy="1272650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93B093A7-1A86-9BD8-F017-343CB90A5E68}"/>
              </a:ext>
            </a:extLst>
          </p:cNvPr>
          <p:cNvSpPr/>
          <p:nvPr/>
        </p:nvSpPr>
        <p:spPr>
          <a:xfrm>
            <a:off x="3633083" y="3217122"/>
            <a:ext cx="1189954" cy="182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98AB37-7A98-5A20-45E4-687ABF8330AC}"/>
              </a:ext>
            </a:extLst>
          </p:cNvPr>
          <p:cNvSpPr/>
          <p:nvPr/>
        </p:nvSpPr>
        <p:spPr>
          <a:xfrm>
            <a:off x="3789680" y="2763520"/>
            <a:ext cx="876760" cy="4568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Prediction</a:t>
            </a:r>
          </a:p>
          <a:p>
            <a:pPr algn="ctr"/>
            <a:r>
              <a:rPr lang="en-IN" sz="1000" dirty="0"/>
              <a:t>based on Trained Data</a:t>
            </a:r>
          </a:p>
        </p:txBody>
      </p:sp>
    </p:spTree>
    <p:extLst>
      <p:ext uri="{BB962C8B-B14F-4D97-AF65-F5344CB8AC3E}">
        <p14:creationId xmlns:p14="http://schemas.microsoft.com/office/powerpoint/2010/main" val="2025023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475FBB-A44B-2EAB-2ED4-0EA943A8C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780" y="1126548"/>
            <a:ext cx="7886700" cy="230245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Here Parameters are,</a:t>
            </a:r>
          </a:p>
          <a:p>
            <a:r>
              <a:rPr lang="en-IN" sz="2000" b="1" dirty="0" err="1"/>
              <a:t>n_estimators</a:t>
            </a:r>
            <a:r>
              <a:rPr lang="en-IN" sz="2000" b="1" dirty="0"/>
              <a:t> = </a:t>
            </a:r>
            <a:r>
              <a:rPr lang="en-IN" b="1" dirty="0"/>
              <a:t>100</a:t>
            </a:r>
            <a:r>
              <a:rPr lang="en-IN" dirty="0"/>
              <a:t> was selected to create a sufficiently large ensemble of decision trees, improving prediction accuracy and reducing overfitting. </a:t>
            </a:r>
          </a:p>
          <a:p>
            <a:r>
              <a:rPr lang="en-IN" sz="2000" b="1" dirty="0" err="1"/>
              <a:t>random_state</a:t>
            </a:r>
            <a:r>
              <a:rPr lang="en-IN" sz="2000" b="1" dirty="0"/>
              <a:t> = 42</a:t>
            </a:r>
            <a:r>
              <a:rPr lang="en-IN" sz="2000" dirty="0"/>
              <a:t> </a:t>
            </a:r>
            <a:r>
              <a:rPr lang="en-IN" dirty="0"/>
              <a:t>ensures reproducibility, allowing consistent experimental results and reliable model evaluation. Proper parameter settings help the model learn market patterns more effectively and generate accurate gold price predictions.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6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6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67165-3007-9226-C015-29793056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Academic Year 2025-26 , Semester-2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EE022-853C-AFBE-B9E9-A7DEB159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81751"/>
            <a:ext cx="372058" cy="339725"/>
          </a:xfrm>
        </p:spPr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F849F-B855-B21A-BDC1-5A3977A283EF}"/>
              </a:ext>
            </a:extLst>
          </p:cNvPr>
          <p:cNvSpPr txBox="1"/>
          <p:nvPr/>
        </p:nvSpPr>
        <p:spPr>
          <a:xfrm>
            <a:off x="755780" y="489539"/>
            <a:ext cx="788670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 TUNING AND IMPORTANCE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7411BB-1C11-31F7-98A2-31D423188FFB}"/>
                  </a:ext>
                </a:extLst>
              </p14:cNvPr>
              <p14:cNvContentPartPr/>
              <p14:nvPr/>
            </p14:nvContentPartPr>
            <p14:xfrm>
              <a:off x="10217087" y="2808470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7411BB-1C11-31F7-98A2-31D423188F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10967" y="280235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9185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1720B1-4745-91AA-E4AF-77C16ABA0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24731"/>
            <a:ext cx="7886700" cy="374321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Trained Random Forest model uses market inputs — Open, High, Low, and Volume — to forecast the closing price. The predicted value of </a:t>
            </a:r>
            <a:r>
              <a:rPr lang="en-IN" b="1" dirty="0"/>
              <a:t>$439.37</a:t>
            </a:r>
            <a:r>
              <a:rPr lang="en-IN" dirty="0"/>
              <a:t> demonstrates the model’s ability to generate actionable insights for traders and analysts.</a:t>
            </a:r>
          </a:p>
          <a:p>
            <a:endParaRPr lang="en-IN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6A5FCD-CC68-E85C-A694-21CE15314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579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2400" dirty="0"/>
              <a:t>GOLD PRICE PREDICTION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3C4AB-0194-00F7-3F7C-2A405FB5A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DB6C9-15AB-BD1C-0B6D-8E7A44F2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81751"/>
            <a:ext cx="446703" cy="339725"/>
          </a:xfrm>
        </p:spPr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A32AA0-AEF1-F6AC-2A6C-C2677D6817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211"/>
          <a:stretch>
            <a:fillRect/>
          </a:stretch>
        </p:blipFill>
        <p:spPr>
          <a:xfrm>
            <a:off x="1032603" y="2160342"/>
            <a:ext cx="3992693" cy="22096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1D9874-DF2D-866E-5DA7-18D83E81F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234" y="2713774"/>
            <a:ext cx="256436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81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BF294B-CEBE-7779-1C3F-DF6D00762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82674"/>
            <a:ext cx="7886700" cy="5410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IN" b="1" dirty="0"/>
              <a:t>Limitations</a:t>
            </a:r>
          </a:p>
          <a:p>
            <a:pPr>
              <a:lnSpc>
                <a:spcPct val="100000"/>
              </a:lnSpc>
            </a:pPr>
            <a:r>
              <a:rPr lang="en-IN" sz="1400" b="1" dirty="0"/>
              <a:t>Data Quality</a:t>
            </a:r>
            <a:r>
              <a:rPr lang="en-IN" sz="1400" dirty="0"/>
              <a:t>: Predictions depend on dataset accuracy; scaling issues can distort results.</a:t>
            </a:r>
          </a:p>
          <a:p>
            <a:pPr>
              <a:lnSpc>
                <a:spcPct val="100000"/>
              </a:lnSpc>
            </a:pPr>
            <a:r>
              <a:rPr lang="en-IN" sz="1400" b="1" dirty="0"/>
              <a:t>Feature Scope</a:t>
            </a:r>
            <a:r>
              <a:rPr lang="en-IN" sz="1400" dirty="0"/>
              <a:t>: Only Open, High, Low, Volume used; macroeconomic factors excluded.</a:t>
            </a:r>
          </a:p>
          <a:p>
            <a:pPr>
              <a:lnSpc>
                <a:spcPct val="100000"/>
              </a:lnSpc>
            </a:pPr>
            <a:r>
              <a:rPr lang="en-IN" sz="1400" b="1" dirty="0"/>
              <a:t>Model Constraints</a:t>
            </a:r>
            <a:r>
              <a:rPr lang="en-IN" sz="1400" dirty="0"/>
              <a:t>: Random Forest struggles with extrapolation outside training range.</a:t>
            </a:r>
          </a:p>
          <a:p>
            <a:pPr>
              <a:lnSpc>
                <a:spcPct val="100000"/>
              </a:lnSpc>
            </a:pPr>
            <a:r>
              <a:rPr lang="en-IN" sz="1400" b="1" dirty="0"/>
              <a:t>Prediction Scale</a:t>
            </a:r>
            <a:r>
              <a:rPr lang="en-IN" sz="1400" dirty="0"/>
              <a:t>: Some outputs show mismatches, highlighting need for normalization.</a:t>
            </a:r>
          </a:p>
          <a:p>
            <a:r>
              <a:rPr lang="en-IN" b="1" dirty="0"/>
              <a:t>Future Scope</a:t>
            </a:r>
          </a:p>
          <a:p>
            <a:pPr>
              <a:lnSpc>
                <a:spcPct val="110000"/>
              </a:lnSpc>
            </a:pPr>
            <a:r>
              <a:rPr lang="en-IN" sz="1400" b="1" dirty="0"/>
              <a:t>Data Expansion</a:t>
            </a:r>
            <a:r>
              <a:rPr lang="en-IN" sz="1400" dirty="0"/>
              <a:t>: Add macroeconomic indicators.</a:t>
            </a:r>
          </a:p>
          <a:p>
            <a:pPr>
              <a:lnSpc>
                <a:spcPct val="110000"/>
              </a:lnSpc>
            </a:pPr>
            <a:r>
              <a:rPr lang="en-IN" sz="1400" b="1" dirty="0"/>
              <a:t>Advanced Models</a:t>
            </a:r>
            <a:r>
              <a:rPr lang="en-IN" sz="1400" dirty="0"/>
              <a:t>: Explore hybrid ML models (Random Forest).</a:t>
            </a:r>
          </a:p>
          <a:p>
            <a:pPr>
              <a:lnSpc>
                <a:spcPct val="110000"/>
              </a:lnSpc>
            </a:pPr>
            <a:r>
              <a:rPr lang="en-IN" sz="1400" b="1" dirty="0"/>
              <a:t>Feature Engineering</a:t>
            </a:r>
            <a:r>
              <a:rPr lang="en-IN" sz="1400" dirty="0"/>
              <a:t>: Include moving averages, volatility indices, sentiment analysis.</a:t>
            </a:r>
          </a:p>
          <a:p>
            <a:pPr>
              <a:lnSpc>
                <a:spcPct val="110000"/>
              </a:lnSpc>
            </a:pPr>
            <a:r>
              <a:rPr lang="en-IN" sz="1400" b="1" dirty="0"/>
              <a:t>Real-Time Integration</a:t>
            </a:r>
            <a:r>
              <a:rPr lang="en-IN" sz="1400" dirty="0"/>
              <a:t>: Connect to live feeds for dynamic dashboards.</a:t>
            </a:r>
          </a:p>
          <a:p>
            <a:pPr>
              <a:lnSpc>
                <a:spcPct val="110000"/>
              </a:lnSpc>
            </a:pPr>
            <a:r>
              <a:rPr lang="en-IN" b="1" dirty="0"/>
              <a:t>Conclusion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The project demonstrates that </a:t>
            </a:r>
            <a:r>
              <a:rPr lang="en-IN" sz="1400" b="1" dirty="0"/>
              <a:t>Random Forest Regression</a:t>
            </a:r>
            <a:r>
              <a:rPr lang="en-IN" sz="1400" dirty="0"/>
              <a:t> can forecast gold prices with reasonable accuracy.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Visualizations (trend graph, heatmap) confirmed strong correlations among features.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The model achieved acceptable </a:t>
            </a:r>
            <a:r>
              <a:rPr lang="en-IN" sz="1400" b="1" dirty="0"/>
              <a:t>R2 Score</a:t>
            </a:r>
            <a:r>
              <a:rPr lang="en-IN" sz="1400" dirty="0"/>
              <a:t> and </a:t>
            </a:r>
            <a:r>
              <a:rPr lang="en-IN" sz="1400" b="1" dirty="0"/>
              <a:t>Mean Squared Error</a:t>
            </a:r>
            <a:r>
              <a:rPr lang="en-IN" sz="1400" dirty="0"/>
              <a:t>, proving its reliability.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The </a:t>
            </a:r>
            <a:r>
              <a:rPr lang="en-IN" sz="1400" b="1" dirty="0"/>
              <a:t>Future Prediction </a:t>
            </a:r>
            <a:r>
              <a:rPr lang="en-IN" sz="1400" dirty="0"/>
              <a:t>showed practical application: given inputs, the model forecasts closing prices.</a:t>
            </a:r>
          </a:p>
          <a:p>
            <a:pPr>
              <a:lnSpc>
                <a:spcPct val="110000"/>
              </a:lnSpc>
            </a:pPr>
            <a:endParaRPr lang="en-IN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FCA7F2-A8D0-2856-D889-4C2B95226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3294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2800" dirty="0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81F33-772D-966D-BD8E-40221BC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94914"/>
            <a:ext cx="3086100" cy="365125"/>
          </a:xfrm>
        </p:spPr>
        <p:txBody>
          <a:bodyPr/>
          <a:lstStyle/>
          <a:p>
            <a:r>
              <a:rPr lang="en-US" dirty="0"/>
              <a:t>Academic Year 2020-21 , Semester-2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500B0-B9DC-15EE-DD87-992849BF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92875"/>
            <a:ext cx="390719" cy="281150"/>
          </a:xfrm>
        </p:spPr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618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00F84-CB07-47B1-F24D-587DBA09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Academic Year 2025-26, Semester-2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413A0-ACFF-8C65-DA1D-018E4BB2C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DB68E-6E6A-9144-44AB-EC4FCEFD67FF}"/>
              </a:ext>
            </a:extLst>
          </p:cNvPr>
          <p:cNvSpPr txBox="1"/>
          <p:nvPr/>
        </p:nvSpPr>
        <p:spPr>
          <a:xfrm>
            <a:off x="621030" y="219557"/>
            <a:ext cx="724408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CHART</a:t>
            </a:r>
            <a:endParaRPr lang="en-IN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89EEB-B401-5DC9-1E27-DE7DC1E26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" y="1048172"/>
            <a:ext cx="7244080" cy="42587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923996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68FC1E-8A9D-468C-F7A8-4ED32EC6C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46336"/>
            <a:ext cx="7886700" cy="357606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/>
            <a:r>
              <a:rPr lang="en-US" sz="1600" dirty="0"/>
              <a:t>Random Forests. Machine Learning, 45(1), 5-32. https://doi.org/10.1023/A:1010933404324</a:t>
            </a:r>
            <a:endParaRPr lang="en-IN" sz="1600" dirty="0"/>
          </a:p>
          <a:p>
            <a:pPr lvl="0"/>
            <a:r>
              <a:rPr lang="en-US" sz="1600" dirty="0"/>
              <a:t>Scikit-learn: Machine Learning in Python. Journal of Machine Learning Research, 12, 2825-2830.</a:t>
            </a:r>
            <a:endParaRPr lang="en-IN" sz="1600" dirty="0"/>
          </a:p>
          <a:p>
            <a:pPr lvl="0"/>
            <a:r>
              <a:rPr lang="en-US" sz="1600" dirty="0"/>
              <a:t>Data Structures for Statistical Computing in Python. Proceedings of the 9th Python in Science Conference, 51-56.</a:t>
            </a:r>
            <a:endParaRPr lang="en-IN" sz="1600" dirty="0"/>
          </a:p>
          <a:p>
            <a:pPr lvl="0"/>
            <a:r>
              <a:rPr lang="en-US" sz="1600" dirty="0"/>
              <a:t>Matplotlib: A 2D Graphics Environment. Computing in Science and Engineering, 9(3), 90-95.</a:t>
            </a:r>
            <a:endParaRPr lang="en-IN" sz="1600" dirty="0"/>
          </a:p>
          <a:p>
            <a:pPr lvl="0"/>
            <a:r>
              <a:rPr lang="en-US" sz="1600" dirty="0"/>
              <a:t>seaborn: Statistical Data Visualization. Journal of Open Source Software, 6(60), 3021.</a:t>
            </a:r>
            <a:endParaRPr lang="en-IN" sz="1600" dirty="0"/>
          </a:p>
          <a:p>
            <a:pPr lvl="0"/>
            <a:r>
              <a:rPr lang="en-US" sz="1600" dirty="0"/>
              <a:t>Gold Demand Trends Full Year 2025. https://www.gold.org/goldhub/research/gold-demand-trends.</a:t>
            </a:r>
            <a:endParaRPr lang="en-IN" sz="1600" dirty="0"/>
          </a:p>
          <a:p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GitHub Gold Dataset Repository.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B52371-9719-CA8C-A32D-917AB7C7A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8924"/>
            <a:ext cx="7886700" cy="384219"/>
          </a:xfrm>
          <a:gradFill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240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REFERENCES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D98C6-9193-52E8-A020-222944A5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Academic Year 2025-26, Semester-2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F03F55-80D8-578C-4091-B1E79C96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700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23392C-2B9A-FD52-A311-7E9A61161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11225"/>
            <a:ext cx="7886700" cy="435133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 anchorCtr="1">
            <a:normAutofit/>
          </a:bodyPr>
          <a:lstStyle/>
          <a:p>
            <a:pPr marL="0" indent="0" algn="ctr">
              <a:buNone/>
            </a:pPr>
            <a:r>
              <a:rPr lang="en-IN" sz="4400" b="1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  <a:ea typeface="Cambria" panose="02040503050406030204" pitchFamily="18" charset="0"/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FAC1F-F523-E0DF-21A8-772DBA0B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Academic Year 2020-21 , Semester-2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23A608-25AB-6ACA-27EC-AEC9485AE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47BB-4598-4E25-9E38-971C52AEC84E}" type="slidenum">
              <a:rPr lang="en-US" smtClean="0">
                <a:solidFill>
                  <a:schemeClr val="tx1"/>
                </a:solidFill>
              </a:rPr>
              <a:pPr/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287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21236</TotalTime>
  <Words>1311</Words>
  <Application>Microsoft Office PowerPoint</Application>
  <PresentationFormat>On-screen Show (4:3)</PresentationFormat>
  <Paragraphs>205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SimSun</vt:lpstr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GUJARAT TECHNOLOGICAL UNIVERSITY       SCHOOL OF ENGINEERING AND TECHNOLOGY </vt:lpstr>
      <vt:lpstr>PowerPoint Presentation</vt:lpstr>
      <vt:lpstr>Broad Area of Problem</vt:lpstr>
      <vt:lpstr>USEFULNESS FOR SOCIETY</vt:lpstr>
      <vt:lpstr>FULFILMENT OF REVIEW-1 AND 2 COMMENTS</vt:lpstr>
      <vt:lpstr>DATASET DESCRIPTION </vt:lpstr>
      <vt:lpstr>DATA PREPROCESSING</vt:lpstr>
      <vt:lpstr>PowerPoint Presentation</vt:lpstr>
      <vt:lpstr>MACHINE LEARNING ALGORITHMS USED</vt:lpstr>
      <vt:lpstr>PowerPoint Presentation</vt:lpstr>
      <vt:lpstr>GOLD PRICE PREDICTION</vt:lpstr>
      <vt:lpstr>Conclusion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access  control of different devices using advance port knocking technique</dc:title>
  <dc:creator>yami1</dc:creator>
  <cp:lastModifiedBy>dattajayshri@gmail.com</cp:lastModifiedBy>
  <cp:revision>351</cp:revision>
  <dcterms:created xsi:type="dcterms:W3CDTF">2019-08-28T03:08:06Z</dcterms:created>
  <dcterms:modified xsi:type="dcterms:W3CDTF">2026-06-07T14:20:05Z</dcterms:modified>
</cp:coreProperties>
</file>